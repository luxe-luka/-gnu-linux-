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Зачем и как это устроено" id="{de438e8c-8e21-9f3a-2a6b-03902c96a6fd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Реализация" id="{79914410-cf78-028a-abf9-eb2e5b3748c2}">
          <p14:sldIdLst>
            <p14:sldId id="264"/>
            <p14:sldId id="265"/>
          </p14:sldIdLst>
        </p14:section>
        <p14:section name="Результат" id="{e8d8a6bb-19a6-f1fe-4591-5415dae3c264}">
          <p14:sldIdLst>
            <p14:sldId id="266"/>
            <p14:sldId id="267"/>
            <p14:sldId id="268"/>
            <p14:sldId id="269"/>
            <p14:sldId id="270"/>
            <p14:sldId id="271"/>
            <p14:sldId id="276"/>
          </p14:sldIdLst>
        </p14:section>
        <p14:section name="Алерты и итоги" id="{dc039847-aae9-9551-2621-89f107822a11}">
          <p14:sldIdLst>
            <p14:sldId id="272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Привет. Расскажу, как я разбирался с Grafana на примере своего Telegram-бота: что поставил, как бот отдаёт метрики и какие грабли встретились. Справа мой готовый дашборд. Минут на десять.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было учебное задание: разобраться с Prometheus и Grafana, настроить мониторинг сервера и уведомления. Я сразу решил не ограничиваться чужими примерами. У меня есть несколько рабочих проектов на сервере, и мне хотелось видеть нагрузку на каждый из них. Поэтому я разбил работу на три шага: поднять стек, научиться отдавать метрики из своего проекта и собрать всё вместе. Дальше расскажу по порядку, как это получилось, и покажу ошибки, на которые потратил время.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понятия, без которых дальше трудно. Prometheus собирает и хранит метрики. Grafana ничего не хранит, она только рисует графики по данным из Prometheus. Node Exporter нужен для метрик самой операционной системы: процессор, память, диск, сеть. Для своего бота я Node Exporter не использовал, его роль играет сам бот, который отдаёт метрики на странице /metrics.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Сначала я повторил классический пример: Node Exporter собирает метрики операционной системы, Prometheus их забирает, Grafana рисует. Слева готовый дашборд Node Exporter Full, справа схема. Дальше я решил сделать то же самое, но для собственного бота.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вопроса, на которые я хотел отвечать одним взглядом на экран: сколько обращений, были ли ошибки и сколько у бота пользователей. Под каждый вопрос заведена своя метрика. Это три числа, которые владельцу бота нужны каждый день: растёт ли интерес, не ломается ли что-то и сколько реальных людей пользуется.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Главное отличие от привычных систем: приложение не отправляет метрики, оно просто показывает их на странице /metrics. Prometheus сам приходит и забирает. Grafana сама ничего не хранит, она только рисует графики по запросам к Prometheus.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Временной ряд это имя метрики плюс набор меток плюс значения во времени. Например, bot_messages_total с меткой type равной /start. Если метка принимает много разных значений, рядов становится очень много. Это называется кардинальностью, и из-за неё нельзя класть в метки произвольный текст пользователей.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Counter только растёт, поэтому подходит для обращений и ошибок. Gauge можно выставить в любое значение, я использую его для числа пользователей. Histogram раскладывает время ответа по корзинам, из них потом считается p95. И важное правило про метки: каждое новое значение метки создаёт отдельный временной ряд, поэтому сырой текст сообщений туда класть нельзя.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коде всё сводится к трём шагам. Объявляю метрики. В middleware увеличиваю счётчик на каждое сообщение и запоминаю пользователя. В обработчике ошибок увеличиваю счётчик ошибок. И одной строкой start_http_server поднимаю страницу /metrics. Важно: уникальные пользователи хранятся в памяти и обнуляются при перезапуске.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Чтобы всё поднималось одной командой, я добавил бота в docker-compose. Токен берётся из файла .env и в образ не попадает. Prometheus теперь обращается к боту по имени сервиса bot, а не через host.docker.internal.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Прежде чем рисовать графики, проверяем, что данные вообще приходят. Сначала страница targets, потом пара сообщений боту и запрос в Prometheus. Если здесь пусто, то проблема в боте или в Prometheus, а не в Grafana.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Grafana добавляем источник данных Prometheus, адрес по имени контейнера, а не localhost. Потом на каждую панель по запросу. increase показывает прирост за период, rate скорость в секунду, sum складывает ряды с разными метками. or vector(0) нужен, чтобы вместо No data показывался ноль, пока ошибок не было.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PromQL это язык запросов к Prometheus. Мне хватило четырёх приёмов. rate показывает скорость роста счётчика, increase показывает прирост за период, sum складывает ряды с разными метками, а or vector(0) нужен, чтобы панель показывала ноль, пока метрики ещё нет. Счётчик сам по себе почти бесполезен: он только растёт, поэтому на графиках мы почти всегда смотрим на rate или increase.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Так выглядит настройка одной панели. В запросе уже окно в две минуты, я использовал его для проверки: график показывает, сколько сообщений пришло за последние две минуты.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Вот что получилось: три панели на три вопроса, с которых я начал. Сейчас на графике ноль, а пользователь один, это я сам. Когда бот получит больше трафика, значения оживут.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Самая полезная часть для тех, кто будет повторять. Первая: режим Builder вместо Code. Вторая: в логах контейнера было TelegramConflictError, потому что параллельно работал локальный бот с тем же токеном, и сообщения доставались ему. Третья не ошибка: метрика с метками не существует, пока не произошло первое событие.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Теперь самое приятное: бот сам сообщает, когда что-то идёт не так, и мне не нужно сидеть и смотреть на график. Принцип простой. В Grafana создаётся правило с запросом к Prometheus, к нему условие: порог и время, которое он должен держаться. Когда условие выполняется, Grafana отправляет сообщение через contact point, и в моём случае это Telegram. У меня правило называется tgbot: оно смотрит на скорость роста счётчика ошибок за 5 минут, и если она выше нуля, то есть случилась хотя бы одна ошибка, мне приходит сообщение.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Подключение занимает несколько минут. Сначала нужен бот: его токен выдаёт BotFather. Потом chat ID чата, куда Grafana будет писать. В Grafana в разделе Alerting создаётся contact point типа Telegram, туда вставляются токен и chat ID. Кнопка Test сразу отправляет тестовое сообщение, и по нему видно, что всё подключено. Последний шаг: в Notification policies направить алерты на этот contact point. Справа вставьте скриншот реального уведомления.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Вот моё правило прямо в Grafana. Запрос такой же, как на дашборде: скорость роста счётчика ошибок за пять минут. Условие простое: значение выше нуля. На графике видно, как в момент ошибки значение подскочило, и правило перешло в состояние Firing. Уведомления уходят в contact point с названием alerting tg, то есть в Telegram. Порог ноль выбран для проверки: любая ошибка сразу заметна. Для рабочего бота его можно поднять, чтобы не получать сообщения из-за единичных сбоев.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Подведу итог. Бот сам считает обращения, ошибки и пользователей. Prometheus раз в 15 секунд забирает значения. Grafana показывает дашборд, а если что-то идёт не так, мне приходит сообщение в Telegram. Всё поднимается одной командой.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Уведомления в Telegram уже работают, так что дальше хочу расширить алерты на другие метрики, перенести пользователей в базу данных и подключить Loki для логов. По QR-коду можно открыть материалы. Если есть вопросы, с радостью отвечу.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103120"/>
            <a:ext cx="539496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868680"/>
            <a:ext cx="1090879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Мониторинг Telegram-бота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4472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4472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1645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3"/>
                </a:solidFill>
              </a:rPr>
              <a:t>PROMETHEUS + GRAFANA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2103120"/>
            <a:ext cx="5394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tx1"/>
                </a:solidFill>
              </a:rPr>
              <a:t>Мониторинг Telegram-бота</a:t>
            </a:r>
            <a:endParaRPr lang="en-US" sz="4800" dirty="0"/>
          </a:p>
        </p:txBody>
      </p:sp>
      <p:sp>
        <p:nvSpPr>
          <p:cNvPr id="4" name="Subtitle"/>
          <p:cNvSpPr txBox="1"/>
          <p:nvPr/>
        </p:nvSpPr>
        <p:spPr>
          <a:xfrm>
            <a:off x="640080" y="42976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Сколько обращений, ошибок и пользователей: как это увидеть на графиках</a:t>
            </a:r>
            <a:endParaRPr lang="en-US" sz="2000" dirty="0"/>
          </a:p>
        </p:txBody>
      </p:sp>
      <p:sp>
        <p:nvSpPr>
          <p:cNvPr id="5" name="Tagline"/>
          <p:cNvSpPr txBox="1"/>
          <p:nvPr/>
        </p:nvSpPr>
        <p:spPr>
          <a:xfrm>
            <a:off x="64008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Мой опыт, схема и ошибки по дороге</a:t>
            </a:r>
            <a:endParaRPr lang="en-US" sz="1400" dirty="0"/>
          </a:p>
        </p:txBody>
      </p:sp>
      <p:pic>
        <p:nvPicPr>
          <p:cNvPr id="6" name="Мой дашборд в Grafana" descr="Мой дашборд в Grafan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2194560"/>
            <a:ext cx="5056632" cy="242452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2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3"/>
                </a:solidFill>
              </a:rPr>
              <a:t>ЗАДАНИЕ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8686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С чего всё началось</a:t>
            </a:r>
            <a:endParaRPr lang="en-US" sz="3600" dirty="0"/>
          </a:p>
        </p:txBody>
      </p:sp>
      <p:sp>
        <p:nvSpPr>
          <p:cNvPr id="4" name="Task text"/>
          <p:cNvSpPr txBox="1"/>
          <p:nvPr/>
        </p:nvSpPr>
        <p:spPr>
          <a:xfrm>
            <a:off x="640080" y="18745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Нужно было настроить Prometheus и Grafana, следить за работой сервера, анализировать производительность и ресурсы, а потом подключить автоматические уведомления.</a:t>
            </a:r>
            <a:endParaRPr lang="en-US" sz="1800" dirty="0"/>
          </a:p>
        </p:txBody>
      </p:sp>
      <p:sp>
        <p:nvSpPr>
          <p:cNvPr id="5" name="Plan card 1"/>
          <p:cNvSpPr/>
          <p:nvPr/>
        </p:nvSpPr>
        <p:spPr>
          <a:xfrm>
            <a:off x="640080" y="3108960"/>
            <a:ext cx="3520440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6" name="Plan number 1"/>
          <p:cNvSpPr txBox="1"/>
          <p:nvPr/>
        </p:nvSpPr>
        <p:spPr>
          <a:xfrm>
            <a:off x="1005840" y="329184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3"/>
                </a:solidFill>
              </a:rPr>
              <a:t>1</a:t>
            </a:r>
            <a:endParaRPr lang="en-US" sz="4800" dirty="0"/>
          </a:p>
        </p:txBody>
      </p:sp>
      <p:sp>
        <p:nvSpPr>
          <p:cNvPr id="7" name="Plan heading 1"/>
          <p:cNvSpPr txBox="1"/>
          <p:nvPr/>
        </p:nvSpPr>
        <p:spPr>
          <a:xfrm>
            <a:off x="1005840" y="416052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Поднять Grafana и Prometheus</a:t>
            </a:r>
            <a:endParaRPr lang="en-US" sz="2000" dirty="0"/>
          </a:p>
        </p:txBody>
      </p:sp>
      <p:sp>
        <p:nvSpPr>
          <p:cNvPr id="8" name="Plan text 1"/>
          <p:cNvSpPr txBox="1"/>
          <p:nvPr/>
        </p:nvSpPr>
        <p:spPr>
          <a:xfrm>
            <a:off x="1005840" y="493776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Сначала на локальной машине, в Docker</a:t>
            </a:r>
            <a:endParaRPr lang="en-US" sz="1600" dirty="0"/>
          </a:p>
        </p:txBody>
      </p:sp>
      <p:sp>
        <p:nvSpPr>
          <p:cNvPr id="9" name="Plan card 2"/>
          <p:cNvSpPr/>
          <p:nvPr/>
        </p:nvSpPr>
        <p:spPr>
          <a:xfrm>
            <a:off x="4434840" y="3108960"/>
            <a:ext cx="3520440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Plan number 2"/>
          <p:cNvSpPr txBox="1"/>
          <p:nvPr/>
        </p:nvSpPr>
        <p:spPr>
          <a:xfrm>
            <a:off x="4800600" y="329184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3"/>
                </a:solidFill>
              </a:rPr>
              <a:t>2</a:t>
            </a:r>
            <a:endParaRPr lang="en-US" sz="4800" dirty="0"/>
          </a:p>
        </p:txBody>
      </p:sp>
      <p:sp>
        <p:nvSpPr>
          <p:cNvPr id="11" name="Plan heading 2"/>
          <p:cNvSpPr txBox="1"/>
          <p:nvPr/>
        </p:nvSpPr>
        <p:spPr>
          <a:xfrm>
            <a:off x="4800600" y="416052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Сделать exporter метрик из проектов</a:t>
            </a:r>
            <a:endParaRPr lang="en-US" sz="2000" dirty="0"/>
          </a:p>
        </p:txBody>
      </p:sp>
      <p:sp>
        <p:nvSpPr>
          <p:cNvPr id="12" name="Plan text 2"/>
          <p:cNvSpPr txBox="1"/>
          <p:nvPr/>
        </p:nvSpPr>
        <p:spPr>
          <a:xfrm>
            <a:off x="4800600" y="493776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Чтобы видеть нагрузку каждого проекта</a:t>
            </a:r>
            <a:endParaRPr lang="en-US" sz="1600" dirty="0"/>
          </a:p>
        </p:txBody>
      </p:sp>
      <p:sp>
        <p:nvSpPr>
          <p:cNvPr id="13" name="Plan card 3"/>
          <p:cNvSpPr/>
          <p:nvPr/>
        </p:nvSpPr>
        <p:spPr>
          <a:xfrm>
            <a:off x="8229600" y="3108960"/>
            <a:ext cx="3520440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Plan number 3"/>
          <p:cNvSpPr txBox="1"/>
          <p:nvPr/>
        </p:nvSpPr>
        <p:spPr>
          <a:xfrm>
            <a:off x="8595360" y="329184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3"/>
                </a:solidFill>
              </a:rPr>
              <a:t>3</a:t>
            </a:r>
            <a:endParaRPr lang="en-US" sz="4800" dirty="0"/>
          </a:p>
        </p:txBody>
      </p:sp>
      <p:sp>
        <p:nvSpPr>
          <p:cNvPr id="15" name="Plan heading 3"/>
          <p:cNvSpPr txBox="1"/>
          <p:nvPr/>
        </p:nvSpPr>
        <p:spPr>
          <a:xfrm>
            <a:off x="8595360" y="416052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Собрать полноценную систему</a:t>
            </a:r>
            <a:endParaRPr lang="en-US" sz="2000" dirty="0"/>
          </a:p>
        </p:txBody>
      </p:sp>
      <p:sp>
        <p:nvSpPr>
          <p:cNvPr id="16" name="Plan text 3"/>
          <p:cNvSpPr txBox="1"/>
          <p:nvPr/>
        </p:nvSpPr>
        <p:spPr>
          <a:xfrm>
            <a:off x="8595360" y="493776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С графиками и уведомлениями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4472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3"/>
                </a:solidFill>
              </a:rPr>
              <a:t>ТЕОРИЯ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8686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Кто есть кто в этой системе</a:t>
            </a:r>
            <a:endParaRPr lang="en-US" sz="3600" dirty="0"/>
          </a:p>
        </p:txBody>
      </p:sp>
      <p:sp>
        <p:nvSpPr>
          <p:cNvPr id="4" name="Card Prometheus"/>
          <p:cNvSpPr/>
          <p:nvPr/>
        </p:nvSpPr>
        <p:spPr>
          <a:xfrm>
            <a:off x="640080" y="2011680"/>
            <a:ext cx="3520440" cy="384048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5" name="Icon Prometheus" descr="Promethe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377440"/>
            <a:ext cx="640080" cy="640080"/>
          </a:xfrm>
          <a:prstGeom prst="rect">
            <a:avLst/>
          </a:prstGeom>
        </p:spPr>
      </p:pic>
      <p:sp>
        <p:nvSpPr>
          <p:cNvPr id="6" name="Heading Prometheus"/>
          <p:cNvSpPr txBox="1"/>
          <p:nvPr/>
        </p:nvSpPr>
        <p:spPr>
          <a:xfrm>
            <a:off x="1005840" y="320040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Prometheus</a:t>
            </a:r>
            <a:endParaRPr lang="en-US" sz="2600" dirty="0"/>
          </a:p>
        </p:txBody>
      </p:sp>
      <p:sp>
        <p:nvSpPr>
          <p:cNvPr id="7" name="Text Prometheus"/>
          <p:cNvSpPr txBox="1"/>
          <p:nvPr/>
        </p:nvSpPr>
        <p:spPr>
          <a:xfrm>
            <a:off x="1005840" y="3931920"/>
            <a:ext cx="2788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Система мониторинга и сбора метрик. Хранит значения во времени.</a:t>
            </a:r>
            <a:endParaRPr lang="en-US" sz="1800" dirty="0"/>
          </a:p>
        </p:txBody>
      </p:sp>
      <p:sp>
        <p:nvSpPr>
          <p:cNvPr id="8" name="Card Grafana"/>
          <p:cNvSpPr/>
          <p:nvPr/>
        </p:nvSpPr>
        <p:spPr>
          <a:xfrm>
            <a:off x="4434840" y="2011680"/>
            <a:ext cx="3520440" cy="384048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9" name="Icon Grafana" descr="Grafan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2377440"/>
            <a:ext cx="640080" cy="640080"/>
          </a:xfrm>
          <a:prstGeom prst="rect">
            <a:avLst/>
          </a:prstGeom>
        </p:spPr>
      </p:pic>
      <p:sp>
        <p:nvSpPr>
          <p:cNvPr id="10" name="Heading Grafana"/>
          <p:cNvSpPr txBox="1"/>
          <p:nvPr/>
        </p:nvSpPr>
        <p:spPr>
          <a:xfrm>
            <a:off x="4800600" y="320040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Grafana</a:t>
            </a:r>
            <a:endParaRPr lang="en-US" sz="2600" dirty="0"/>
          </a:p>
        </p:txBody>
      </p:sp>
      <p:sp>
        <p:nvSpPr>
          <p:cNvPr id="11" name="Text Grafana"/>
          <p:cNvSpPr txBox="1"/>
          <p:nvPr/>
        </p:nvSpPr>
        <p:spPr>
          <a:xfrm>
            <a:off x="4800600" y="3931920"/>
            <a:ext cx="2788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Платформа для визуализации, мониторинга и анализа данных. Рисует графики.</a:t>
            </a:r>
            <a:endParaRPr lang="en-US" sz="1800" dirty="0"/>
          </a:p>
        </p:txBody>
      </p:sp>
      <p:sp>
        <p:nvSpPr>
          <p:cNvPr id="12" name="Card Node Exporter"/>
          <p:cNvSpPr/>
          <p:nvPr/>
        </p:nvSpPr>
        <p:spPr>
          <a:xfrm>
            <a:off x="8229600" y="2011680"/>
            <a:ext cx="3520440" cy="384048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3" name="Icon Node Exporter" descr="Node Export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2377440"/>
            <a:ext cx="640080" cy="640080"/>
          </a:xfrm>
          <a:prstGeom prst="rect">
            <a:avLst/>
          </a:prstGeom>
        </p:spPr>
      </p:pic>
      <p:sp>
        <p:nvSpPr>
          <p:cNvPr id="14" name="Heading Node Exporter"/>
          <p:cNvSpPr txBox="1"/>
          <p:nvPr/>
        </p:nvSpPr>
        <p:spPr>
          <a:xfrm>
            <a:off x="8595360" y="320040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Node Exporter</a:t>
            </a:r>
            <a:endParaRPr lang="en-US" sz="2600" dirty="0"/>
          </a:p>
        </p:txBody>
      </p:sp>
      <p:sp>
        <p:nvSpPr>
          <p:cNvPr id="15" name="Text Node Exporter"/>
          <p:cNvSpPr txBox="1"/>
          <p:nvPr/>
        </p:nvSpPr>
        <p:spPr>
          <a:xfrm>
            <a:off x="8595360" y="3931920"/>
            <a:ext cx="2788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Служебная программа, которая собирает аппаратные и системные метрики ОС.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4472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3"/>
                </a:solidFill>
              </a:rPr>
              <a:t>С ЧЕГО НАЧАЛ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8686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Первый шаг: мониторинг Ubuntu</a:t>
            </a:r>
            <a:endParaRPr lang="en-US" sz="3600" dirty="0"/>
          </a:p>
        </p:txBody>
      </p:sp>
      <p:pic>
        <p:nvPicPr>
          <p:cNvPr id="4" name="Дашборд Node Exporter Full в Grafana" descr="Дашборд Node Exporter Full в Grafan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011680"/>
            <a:ext cx="6035040" cy="3457437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20000"/>
              </a:srgbClr>
            </a:outerShdw>
          </a:effectLst>
        </p:spPr>
      </p:pic>
      <p:pic>
        <p:nvPicPr>
          <p:cNvPr id="5" name="Схема: Node Exporter, Prometheus, Grafana" descr="Схема: Node Exporter, Prometheus, Grafan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2011680"/>
            <a:ext cx="4507992" cy="1468963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20000"/>
              </a:srgbClr>
            </a:outerShdw>
          </a:effectLst>
        </p:spPr>
      </p:pic>
      <p:sp>
        <p:nvSpPr>
          <p:cNvPr id="6" name="First step text"/>
          <p:cNvSpPr txBox="1"/>
          <p:nvPr/>
        </p:nvSpPr>
        <p:spPr>
          <a:xfrm>
            <a:off x="7040880" y="3840480"/>
            <a:ext cx="450799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Поднял в Docker Grafana, Prometheus и Node Exporter и посмотрел нагрузку системы: процессор, память, диск, сеть.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Так разобрался, зачем нужен каждый из трёх.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4472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3"/>
                </a:solidFill>
              </a:rPr>
              <a:t>ЗАДАЧА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8686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Что я хотел видеть про свой бот</a:t>
            </a:r>
            <a:endParaRPr lang="en-US" sz="3600" dirty="0"/>
          </a:p>
        </p:txBody>
      </p:sp>
      <p:sp>
        <p:nvSpPr>
          <p:cNvPr id="4" name="Card Обращения"/>
          <p:cNvSpPr/>
          <p:nvPr/>
        </p:nvSpPr>
        <p:spPr>
          <a:xfrm>
            <a:off x="640080" y="2011680"/>
            <a:ext cx="3520440" cy="384048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5" name="Icon Обращения" descr="Обращения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377440"/>
            <a:ext cx="640080" cy="640080"/>
          </a:xfrm>
          <a:prstGeom prst="rect">
            <a:avLst/>
          </a:prstGeom>
        </p:spPr>
      </p:pic>
      <p:sp>
        <p:nvSpPr>
          <p:cNvPr id="6" name="Heading Обращения"/>
          <p:cNvSpPr txBox="1"/>
          <p:nvPr/>
        </p:nvSpPr>
        <p:spPr>
          <a:xfrm>
            <a:off x="1005840" y="320040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Обращения</a:t>
            </a:r>
            <a:endParaRPr lang="en-US" sz="2600" dirty="0"/>
          </a:p>
        </p:txBody>
      </p:sp>
      <p:sp>
        <p:nvSpPr>
          <p:cNvPr id="7" name="Text Обращения"/>
          <p:cNvSpPr txBox="1"/>
          <p:nvPr/>
        </p:nvSpPr>
        <p:spPr>
          <a:xfrm>
            <a:off x="1005840" y="384048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Сколько сообщений и команд получил бот</a:t>
            </a:r>
            <a:endParaRPr lang="en-US" sz="1600" dirty="0"/>
          </a:p>
        </p:txBody>
      </p:sp>
      <p:sp>
        <p:nvSpPr>
          <p:cNvPr id="8" name="Metric Обращения"/>
          <p:cNvSpPr txBox="1"/>
          <p:nvPr/>
        </p:nvSpPr>
        <p:spPr>
          <a:xfrm>
            <a:off x="1005840" y="50292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bot_messages_total</a:t>
            </a:r>
            <a:endParaRPr lang="en-US" sz="1400" dirty="0"/>
          </a:p>
        </p:txBody>
      </p:sp>
      <p:sp>
        <p:nvSpPr>
          <p:cNvPr id="9" name="Card Ошибки"/>
          <p:cNvSpPr/>
          <p:nvPr/>
        </p:nvSpPr>
        <p:spPr>
          <a:xfrm>
            <a:off x="4434840" y="2011680"/>
            <a:ext cx="3520440" cy="384048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0" name="Icon Ошибки" descr="Ошибки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2377440"/>
            <a:ext cx="640080" cy="640080"/>
          </a:xfrm>
          <a:prstGeom prst="rect">
            <a:avLst/>
          </a:prstGeom>
        </p:spPr>
      </p:pic>
      <p:sp>
        <p:nvSpPr>
          <p:cNvPr id="11" name="Heading Ошибки"/>
          <p:cNvSpPr txBox="1"/>
          <p:nvPr/>
        </p:nvSpPr>
        <p:spPr>
          <a:xfrm>
            <a:off x="4800600" y="320040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Ошибки</a:t>
            </a:r>
            <a:endParaRPr lang="en-US" sz="2600" dirty="0"/>
          </a:p>
        </p:txBody>
      </p:sp>
      <p:sp>
        <p:nvSpPr>
          <p:cNvPr id="12" name="Text Ошибки"/>
          <p:cNvSpPr txBox="1"/>
          <p:nvPr/>
        </p:nvSpPr>
        <p:spPr>
          <a:xfrm>
            <a:off x="4800600" y="384048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Сколько исключений и какого типа</a:t>
            </a:r>
            <a:endParaRPr lang="en-US" sz="1600" dirty="0"/>
          </a:p>
        </p:txBody>
      </p:sp>
      <p:sp>
        <p:nvSpPr>
          <p:cNvPr id="13" name="Metric Ошибки"/>
          <p:cNvSpPr txBox="1"/>
          <p:nvPr/>
        </p:nvSpPr>
        <p:spPr>
          <a:xfrm>
            <a:off x="4800600" y="50292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bot_errors_total</a:t>
            </a:r>
            <a:endParaRPr lang="en-US" sz="1400" dirty="0"/>
          </a:p>
        </p:txBody>
      </p:sp>
      <p:sp>
        <p:nvSpPr>
          <p:cNvPr id="14" name="Card Пользователи"/>
          <p:cNvSpPr/>
          <p:nvPr/>
        </p:nvSpPr>
        <p:spPr>
          <a:xfrm>
            <a:off x="8229600" y="2011680"/>
            <a:ext cx="3520440" cy="384048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5" name="Icon Пользователи" descr="Пользователи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2377440"/>
            <a:ext cx="640080" cy="640080"/>
          </a:xfrm>
          <a:prstGeom prst="rect">
            <a:avLst/>
          </a:prstGeom>
        </p:spPr>
      </p:pic>
      <p:sp>
        <p:nvSpPr>
          <p:cNvPr id="16" name="Heading Пользователи"/>
          <p:cNvSpPr txBox="1"/>
          <p:nvPr/>
        </p:nvSpPr>
        <p:spPr>
          <a:xfrm>
            <a:off x="8595360" y="320040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Пользователи</a:t>
            </a:r>
            <a:endParaRPr lang="en-US" sz="2600" dirty="0"/>
          </a:p>
        </p:txBody>
      </p:sp>
      <p:sp>
        <p:nvSpPr>
          <p:cNvPr id="17" name="Text Пользователи"/>
          <p:cNvSpPr txBox="1"/>
          <p:nvPr/>
        </p:nvSpPr>
        <p:spPr>
          <a:xfrm>
            <a:off x="8595360" y="384048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Сколько разных людей писало боту</a:t>
            </a:r>
            <a:endParaRPr lang="en-US" sz="1600" dirty="0"/>
          </a:p>
        </p:txBody>
      </p:sp>
      <p:sp>
        <p:nvSpPr>
          <p:cNvPr id="18" name="Metric Пользователи"/>
          <p:cNvSpPr txBox="1"/>
          <p:nvPr/>
        </p:nvSpPr>
        <p:spPr>
          <a:xfrm>
            <a:off x="8595360" y="50292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bot_unique_users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4472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3"/>
                </a:solidFill>
              </a:rPr>
              <a:t>СХЕМА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8686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Как данные доходят до графика</a:t>
            </a:r>
            <a:endParaRPr lang="en-US" sz="3600" dirty="0"/>
          </a:p>
        </p:txBody>
      </p:sp>
      <p:sp>
        <p:nvSpPr>
          <p:cNvPr id="4" name="Card Бот"/>
          <p:cNvSpPr/>
          <p:nvPr/>
        </p:nvSpPr>
        <p:spPr>
          <a:xfrm>
            <a:off x="640080" y="2103120"/>
            <a:ext cx="301752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Heading Бот"/>
          <p:cNvSpPr txBox="1"/>
          <p:nvPr/>
        </p:nvSpPr>
        <p:spPr>
          <a:xfrm>
            <a:off x="914400" y="23317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Бот</a:t>
            </a:r>
            <a:endParaRPr lang="en-US" sz="2400" dirty="0"/>
          </a:p>
        </p:txBody>
      </p:sp>
      <p:sp>
        <p:nvSpPr>
          <p:cNvPr id="6" name="Port Бот"/>
          <p:cNvSpPr txBox="1"/>
          <p:nvPr/>
        </p:nvSpPr>
        <p:spPr>
          <a:xfrm>
            <a:off x="914400" y="2926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:8000/metrics</a:t>
            </a:r>
            <a:endParaRPr lang="en-US" sz="1600" dirty="0"/>
          </a:p>
        </p:txBody>
      </p:sp>
      <p:sp>
        <p:nvSpPr>
          <p:cNvPr id="7" name="Text Бот"/>
          <p:cNvSpPr txBox="1"/>
          <p:nvPr/>
        </p:nvSpPr>
        <p:spPr>
          <a:xfrm>
            <a:off x="914400" y="34290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Считает и показывает цифры</a:t>
            </a:r>
            <a:endParaRPr lang="en-US" sz="1600" dirty="0"/>
          </a:p>
        </p:txBody>
      </p:sp>
      <p:sp>
        <p:nvSpPr>
          <p:cNvPr id="8" name="Arrow 1"/>
          <p:cNvSpPr/>
          <p:nvPr/>
        </p:nvSpPr>
        <p:spPr>
          <a:xfrm>
            <a:off x="3886200" y="3017520"/>
            <a:ext cx="457200" cy="36576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9" name="Card Prometheus"/>
          <p:cNvSpPr/>
          <p:nvPr/>
        </p:nvSpPr>
        <p:spPr>
          <a:xfrm>
            <a:off x="4572000" y="2103120"/>
            <a:ext cx="301752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Heading Prometheus"/>
          <p:cNvSpPr txBox="1"/>
          <p:nvPr/>
        </p:nvSpPr>
        <p:spPr>
          <a:xfrm>
            <a:off x="4846320" y="23317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Prometheus</a:t>
            </a:r>
            <a:endParaRPr lang="en-US" sz="2400" dirty="0"/>
          </a:p>
        </p:txBody>
      </p:sp>
      <p:sp>
        <p:nvSpPr>
          <p:cNvPr id="11" name="Port Prometheus"/>
          <p:cNvSpPr txBox="1"/>
          <p:nvPr/>
        </p:nvSpPr>
        <p:spPr>
          <a:xfrm>
            <a:off x="4846320" y="2926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:9090</a:t>
            </a:r>
            <a:endParaRPr lang="en-US" sz="1600" dirty="0"/>
          </a:p>
        </p:txBody>
      </p:sp>
      <p:sp>
        <p:nvSpPr>
          <p:cNvPr id="12" name="Text Prometheus"/>
          <p:cNvSpPr txBox="1"/>
          <p:nvPr/>
        </p:nvSpPr>
        <p:spPr>
          <a:xfrm>
            <a:off x="4846320" y="34290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Забирает и хранит метрики</a:t>
            </a:r>
            <a:endParaRPr lang="en-US" sz="1600" dirty="0"/>
          </a:p>
        </p:txBody>
      </p:sp>
      <p:sp>
        <p:nvSpPr>
          <p:cNvPr id="13" name="Arrow 2"/>
          <p:cNvSpPr/>
          <p:nvPr/>
        </p:nvSpPr>
        <p:spPr>
          <a:xfrm>
            <a:off x="7818120" y="3017520"/>
            <a:ext cx="457200" cy="36576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4" name="Card Grafana"/>
          <p:cNvSpPr/>
          <p:nvPr/>
        </p:nvSpPr>
        <p:spPr>
          <a:xfrm>
            <a:off x="8503920" y="2103120"/>
            <a:ext cx="301752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5" name="Heading Grafana"/>
          <p:cNvSpPr txBox="1"/>
          <p:nvPr/>
        </p:nvSpPr>
        <p:spPr>
          <a:xfrm>
            <a:off x="8778240" y="23317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Grafana</a:t>
            </a:r>
            <a:endParaRPr lang="en-US" sz="2400" dirty="0"/>
          </a:p>
        </p:txBody>
      </p:sp>
      <p:sp>
        <p:nvSpPr>
          <p:cNvPr id="16" name="Port Grafana"/>
          <p:cNvSpPr txBox="1"/>
          <p:nvPr/>
        </p:nvSpPr>
        <p:spPr>
          <a:xfrm>
            <a:off x="8778240" y="2926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:3000</a:t>
            </a:r>
            <a:endParaRPr lang="en-US" sz="1600" dirty="0"/>
          </a:p>
        </p:txBody>
      </p:sp>
      <p:sp>
        <p:nvSpPr>
          <p:cNvPr id="17" name="Text Grafana"/>
          <p:cNvSpPr txBox="1"/>
          <p:nvPr/>
        </p:nvSpPr>
        <p:spPr>
          <a:xfrm>
            <a:off x="8778240" y="34290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Рисует графики по запросам PromQL</a:t>
            </a:r>
            <a:endParaRPr lang="en-US" sz="1600" dirty="0"/>
          </a:p>
        </p:txBody>
      </p:sp>
      <p:sp>
        <p:nvSpPr>
          <p:cNvPr id="18" name="Pull note"/>
          <p:cNvSpPr txBox="1"/>
          <p:nvPr/>
        </p:nvSpPr>
        <p:spPr>
          <a:xfrm>
            <a:off x="640080" y="48463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Pull-модель: 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бот ничего не отправляет. Prometheus сам приходит за метриками каждые 15 секунд.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4472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3"/>
                </a:solidFill>
              </a:rPr>
              <a:t>ТЕОРИЯ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8686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Что такое временной ряд</a:t>
            </a:r>
            <a:endParaRPr lang="en-US" sz="3600" dirty="0"/>
          </a:p>
        </p:txBody>
      </p:sp>
      <p:sp>
        <p:nvSpPr>
          <p:cNvPr id="4" name="Series card"/>
          <p:cNvSpPr/>
          <p:nvPr/>
        </p:nvSpPr>
        <p:spPr>
          <a:xfrm>
            <a:off x="640080" y="2011680"/>
            <a:ext cx="10908792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Series example"/>
          <p:cNvSpPr txBox="1"/>
          <p:nvPr/>
        </p:nvSpPr>
        <p:spPr>
          <a:xfrm>
            <a:off x="1005840" y="2011680"/>
            <a:ext cx="10149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bot_messages_total</a:t>
            </a:r>
            <a:pPr indent="0" marL="0">
              <a:buNone/>
            </a:pPr>
            <a:r>
              <a:rPr lang="en-US" sz="28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{type="/start"}</a:t>
            </a:r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42</a:t>
            </a:r>
            <a:endParaRPr lang="en-US" sz="2800" dirty="0"/>
          </a:p>
        </p:txBody>
      </p:sp>
      <p:sp>
        <p:nvSpPr>
          <p:cNvPr id="6" name="Series caption"/>
          <p:cNvSpPr txBox="1"/>
          <p:nvPr/>
        </p:nvSpPr>
        <p:spPr>
          <a:xfrm>
            <a:off x="640080" y="3474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Пример: число 42 условное</a:t>
            </a:r>
            <a:endParaRPr lang="en-US" sz="1400" dirty="0"/>
          </a:p>
        </p:txBody>
      </p:sp>
      <p:sp>
        <p:nvSpPr>
          <p:cNvPr id="7" name="Part card 1"/>
          <p:cNvSpPr/>
          <p:nvPr/>
        </p:nvSpPr>
        <p:spPr>
          <a:xfrm>
            <a:off x="640080" y="3977640"/>
            <a:ext cx="352044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Part heading 1"/>
          <p:cNvSpPr txBox="1"/>
          <p:nvPr/>
        </p:nvSpPr>
        <p:spPr>
          <a:xfrm>
            <a:off x="960120" y="41605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Имя метрики</a:t>
            </a:r>
            <a:endParaRPr lang="en-US" sz="2000" dirty="0"/>
          </a:p>
        </p:txBody>
      </p:sp>
      <p:sp>
        <p:nvSpPr>
          <p:cNvPr id="9" name="Part text 1"/>
          <p:cNvSpPr txBox="1"/>
          <p:nvPr/>
        </p:nvSpPr>
        <p:spPr>
          <a:xfrm>
            <a:off x="960120" y="466344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Что считаем: обращения к боту.</a:t>
            </a:r>
            <a:endParaRPr lang="en-US" sz="1600" dirty="0"/>
          </a:p>
        </p:txBody>
      </p:sp>
      <p:sp>
        <p:nvSpPr>
          <p:cNvPr id="10" name="Part card 2"/>
          <p:cNvSpPr/>
          <p:nvPr/>
        </p:nvSpPr>
        <p:spPr>
          <a:xfrm>
            <a:off x="4434840" y="3977640"/>
            <a:ext cx="352044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Part heading 2"/>
          <p:cNvSpPr txBox="1"/>
          <p:nvPr/>
        </p:nvSpPr>
        <p:spPr>
          <a:xfrm>
            <a:off x="4754880" y="41605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Метки</a:t>
            </a:r>
            <a:endParaRPr lang="en-US" sz="2000" dirty="0"/>
          </a:p>
        </p:txBody>
      </p:sp>
      <p:sp>
        <p:nvSpPr>
          <p:cNvPr id="12" name="Part text 2"/>
          <p:cNvSpPr txBox="1"/>
          <p:nvPr/>
        </p:nvSpPr>
        <p:spPr>
          <a:xfrm>
            <a:off x="4754880" y="466344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Разрезы: команда или тип ошибки. Каждая комбинация меток это отдельный ряд.</a:t>
            </a:r>
            <a:endParaRPr lang="en-US" sz="1600" dirty="0"/>
          </a:p>
        </p:txBody>
      </p:sp>
      <p:sp>
        <p:nvSpPr>
          <p:cNvPr id="13" name="Part card 3"/>
          <p:cNvSpPr/>
          <p:nvPr/>
        </p:nvSpPr>
        <p:spPr>
          <a:xfrm>
            <a:off x="8229600" y="3977640"/>
            <a:ext cx="352044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Part heading 3"/>
          <p:cNvSpPr txBox="1"/>
          <p:nvPr/>
        </p:nvSpPr>
        <p:spPr>
          <a:xfrm>
            <a:off x="8549640" y="41605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Значение</a:t>
            </a:r>
            <a:endParaRPr lang="en-US" sz="2000" dirty="0"/>
          </a:p>
        </p:txBody>
      </p:sp>
      <p:sp>
        <p:nvSpPr>
          <p:cNvPr id="15" name="Part text 3"/>
          <p:cNvSpPr txBox="1"/>
          <p:nvPr/>
        </p:nvSpPr>
        <p:spPr>
          <a:xfrm>
            <a:off x="8549640" y="466344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Число в конкретный момент. Prometheus записывает его каждые 15 секунд.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4472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3"/>
                </a:solidFill>
              </a:rPr>
              <a:t>ТИПЫ МЕТРИК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8686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Каждой цифре свой тип</a:t>
            </a:r>
            <a:endParaRPr lang="en-US" sz="3600" dirty="0"/>
          </a:p>
        </p:txBody>
      </p:sp>
      <p:graphicFrame>
        <p:nvGraphicFramePr>
          <p:cNvPr id="9" name="Metric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11680"/>
          <a:ext cx="1090879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566160"/>
                <a:gridCol w="1737360"/>
                <a:gridCol w="322783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3"/>
                          </a:solidFill>
                        </a:rPr>
                        <a:t>Что считаем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3"/>
                          </a:solidFill>
                        </a:rPr>
                        <a:t>Метрика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3"/>
                          </a:solidFill>
                        </a:rPr>
                        <a:t>Тип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3"/>
                          </a:solidFill>
                        </a:rPr>
                        <a:t>Почему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Обращения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bot_messages_total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Counter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число только растёт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Ошибки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bot_errors_total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Counter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число только растёт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Пользователи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bot_unique_users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Gauge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значение можно выставить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Время ответа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bot_handler_seconds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Histogram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важно распределение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Cardinality note"/>
          <p:cNvSpPr txBox="1"/>
          <p:nvPr/>
        </p:nvSpPr>
        <p:spPr>
          <a:xfrm>
            <a:off x="640080" y="50292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Метка у метрики создаёт отдельный ряд. Поэтому в </a:t>
            </a:r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type</a:t>
            </a:r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 кладу команду (/start), а не текст сообщения.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4472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3"/>
                </a:solidFill>
              </a:rPr>
              <a:t>КОД БОТА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8686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Бот считает метрики сам</a:t>
            </a:r>
            <a:endParaRPr lang="en-US" sz="3600" dirty="0"/>
          </a:p>
        </p:txBody>
      </p:sp>
      <p:sp>
        <p:nvSpPr>
          <p:cNvPr id="4" name="Code card"/>
          <p:cNvSpPr/>
          <p:nvPr/>
        </p:nvSpPr>
        <p:spPr>
          <a:xfrm>
            <a:off x="640080" y="2011680"/>
            <a:ext cx="10908792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Code"/>
          <p:cNvSpPr txBox="1"/>
          <p:nvPr/>
        </p:nvSpPr>
        <p:spPr>
          <a:xfrm>
            <a:off x="914400" y="2194560"/>
            <a:ext cx="10332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 = Counter("bot_messages_total", "Обращения", ["type"])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ERRORS = Counter("bot_errors_total", "Ошибки", ["error_type"])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UNIQUE_USERS = Gauge("bot_unique_users", "Пользователи")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MESSAGES.labels(type=kind).inc() 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middleware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UNIQUE_USERS.set(len(seen_users))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ERRORS.labels(error_type=name).inc() 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обработчик ошибок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start_http_server(8000) 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отдаём /metrics</a:t>
            </a:r>
            <a:endParaRPr lang="en-US" sz="1500" dirty="0"/>
          </a:p>
        </p:txBody>
      </p:sp>
      <p:sp>
        <p:nvSpPr>
          <p:cNvPr id="6" name="Middleware note"/>
          <p:cNvSpPr txBox="1"/>
          <p:nvPr/>
        </p:nvSpPr>
        <p:spPr>
          <a:xfrm>
            <a:off x="640080" y="53035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Middleware срабатывает на каждое сообщение до обработчика: подсчёт пишу один раз, он работает для всех команд.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4472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3"/>
                </a:solidFill>
              </a:rPr>
              <a:t>DOCKER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8686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Бот в контейнере рядом с Grafana</a:t>
            </a:r>
            <a:endParaRPr lang="en-US" sz="3600" dirty="0"/>
          </a:p>
        </p:txBody>
      </p:sp>
      <p:sp>
        <p:nvSpPr>
          <p:cNvPr id="4" name="Card Dockerfile"/>
          <p:cNvSpPr/>
          <p:nvPr/>
        </p:nvSpPr>
        <p:spPr>
          <a:xfrm>
            <a:off x="640080" y="2011680"/>
            <a:ext cx="5330952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Heading Dockerfile"/>
          <p:cNvSpPr txBox="1"/>
          <p:nvPr/>
        </p:nvSpPr>
        <p:spPr>
          <a:xfrm>
            <a:off x="960120" y="21945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Dockerfile</a:t>
            </a:r>
            <a:endParaRPr lang="en-US" sz="1600" dirty="0"/>
          </a:p>
        </p:txBody>
      </p:sp>
      <p:sp>
        <p:nvSpPr>
          <p:cNvPr id="6" name="Code Dockerfile"/>
          <p:cNvSpPr txBox="1"/>
          <p:nvPr/>
        </p:nvSpPr>
        <p:spPr>
          <a:xfrm>
            <a:off x="960120" y="2651760"/>
            <a:ext cx="4663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python:3.12-slim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WORKDIR /app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requirements.txt .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pip install -r requirements.txt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bot_exemple.py .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 ["python", "bot_exemple.py"]</a:t>
            </a:r>
            <a:endParaRPr lang="en-US" sz="1400" dirty="0"/>
          </a:p>
        </p:txBody>
      </p:sp>
      <p:sp>
        <p:nvSpPr>
          <p:cNvPr id="7" name="Card docker-compose.yml"/>
          <p:cNvSpPr/>
          <p:nvPr/>
        </p:nvSpPr>
        <p:spPr>
          <a:xfrm>
            <a:off x="6217920" y="2011680"/>
            <a:ext cx="5330952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Heading docker-compose.yml"/>
          <p:cNvSpPr txBox="1"/>
          <p:nvPr/>
        </p:nvSpPr>
        <p:spPr>
          <a:xfrm>
            <a:off x="6537960" y="21945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docker-compose.yml</a:t>
            </a:r>
            <a:endParaRPr lang="en-US" sz="1600" dirty="0"/>
          </a:p>
        </p:txBody>
      </p:sp>
      <p:sp>
        <p:nvSpPr>
          <p:cNvPr id="9" name="Code docker-compose.yml"/>
          <p:cNvSpPr txBox="1"/>
          <p:nvPr/>
        </p:nvSpPr>
        <p:spPr>
          <a:xfrm>
            <a:off x="6537960" y="2651760"/>
            <a:ext cx="4663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bot: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build: .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container_name: tg_bot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env_file: .env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restart: unless-stopped</a:t>
            </a:r>
            <a:endParaRPr lang="en-US" sz="1400" dirty="0"/>
          </a:p>
        </p:txBody>
      </p:sp>
      <p:sp>
        <p:nvSpPr>
          <p:cNvPr id="10" name="Docker note"/>
          <p:cNvSpPr txBox="1"/>
          <p:nvPr/>
        </p:nvSpPr>
        <p:spPr>
          <a:xfrm>
            <a:off x="640080" y="50292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В </a:t>
            </a:r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prometheus.yml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адрес цели стал </a:t>
            </a:r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bot:8000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: контейнеры в одной сети видят друг друга по имени сервиса. Запуск: </a:t>
            </a:r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docker compose up -d --build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4472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3"/>
                </a:solidFill>
              </a:rPr>
              <a:t>ПРОВЕРКА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8686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Видит ли Prometheus бота</a:t>
            </a:r>
            <a:endParaRPr lang="en-US" sz="3600" dirty="0"/>
          </a:p>
        </p:txBody>
      </p:sp>
      <p:sp>
        <p:nvSpPr>
          <p:cNvPr id="4" name="Step card 1"/>
          <p:cNvSpPr/>
          <p:nvPr/>
        </p:nvSpPr>
        <p:spPr>
          <a:xfrm>
            <a:off x="640080" y="2011680"/>
            <a:ext cx="10908792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Step number 1"/>
          <p:cNvSpPr txBox="1"/>
          <p:nvPr/>
        </p:nvSpPr>
        <p:spPr>
          <a:xfrm>
            <a:off x="960120" y="2148840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3"/>
                </a:solidFill>
              </a:rPr>
              <a:t>1</a:t>
            </a:r>
            <a:endParaRPr lang="en-US" sz="3600" dirty="0"/>
          </a:p>
        </p:txBody>
      </p:sp>
      <p:sp>
        <p:nvSpPr>
          <p:cNvPr id="6" name="Step text 1"/>
          <p:cNvSpPr txBox="1"/>
          <p:nvPr/>
        </p:nvSpPr>
        <p:spPr>
          <a:xfrm>
            <a:off x="1920240" y="2148840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Открыть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localhost:9090/targets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: у test_bot статус </a:t>
            </a:r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UP</a:t>
            </a:r>
            <a:endParaRPr lang="en-US" sz="2000" dirty="0"/>
          </a:p>
        </p:txBody>
      </p:sp>
      <p:sp>
        <p:nvSpPr>
          <p:cNvPr id="7" name="Step card 2"/>
          <p:cNvSpPr/>
          <p:nvPr/>
        </p:nvSpPr>
        <p:spPr>
          <a:xfrm>
            <a:off x="640080" y="3291840"/>
            <a:ext cx="10908792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Step number 2"/>
          <p:cNvSpPr txBox="1"/>
          <p:nvPr/>
        </p:nvSpPr>
        <p:spPr>
          <a:xfrm>
            <a:off x="960120" y="3429000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3"/>
                </a:solidFill>
              </a:rPr>
              <a:t>2</a:t>
            </a:r>
            <a:endParaRPr lang="en-US" sz="3600" dirty="0"/>
          </a:p>
        </p:txBody>
      </p:sp>
      <p:sp>
        <p:nvSpPr>
          <p:cNvPr id="9" name="Step text 2"/>
          <p:cNvSpPr txBox="1"/>
          <p:nvPr/>
        </p:nvSpPr>
        <p:spPr>
          <a:xfrm>
            <a:off x="1920240" y="3429000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Написать боту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/start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и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/fail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, подождать 15–30 секунд</a:t>
            </a:r>
            <a:endParaRPr lang="en-US" sz="2000" dirty="0"/>
          </a:p>
        </p:txBody>
      </p:sp>
      <p:sp>
        <p:nvSpPr>
          <p:cNvPr id="10" name="Step card 3"/>
          <p:cNvSpPr/>
          <p:nvPr/>
        </p:nvSpPr>
        <p:spPr>
          <a:xfrm>
            <a:off x="640080" y="4572000"/>
            <a:ext cx="10908792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Step number 3"/>
          <p:cNvSpPr txBox="1"/>
          <p:nvPr/>
        </p:nvSpPr>
        <p:spPr>
          <a:xfrm>
            <a:off x="960120" y="4709160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3"/>
                </a:solidFill>
              </a:rPr>
              <a:t>3</a:t>
            </a:r>
            <a:endParaRPr lang="en-US" sz="3600" dirty="0"/>
          </a:p>
        </p:txBody>
      </p:sp>
      <p:sp>
        <p:nvSpPr>
          <p:cNvPr id="12" name="Step text 3"/>
          <p:cNvSpPr txBox="1"/>
          <p:nvPr/>
        </p:nvSpPr>
        <p:spPr>
          <a:xfrm>
            <a:off x="1920240" y="4709160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В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/graph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выполнить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bot_messages_total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: должны появиться ряды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4472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3"/>
                </a:solidFill>
              </a:rPr>
              <a:t>ДАШБОРД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8686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Панели в Grafana и запросы PromQL</a:t>
            </a:r>
            <a:endParaRPr lang="en-US" sz="3600" dirty="0"/>
          </a:p>
        </p:txBody>
      </p:sp>
      <p:graphicFrame>
        <p:nvGraphicFramePr>
          <p:cNvPr id="13" name="PromQL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11680"/>
          <a:ext cx="10908792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752551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3"/>
                          </a:solidFill>
                        </a:rPr>
                        <a:t>Панель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3"/>
                          </a:solidFill>
                        </a:rPr>
                        <a:t>Запрос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Обращений за сутки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sum(increase(bot_messages_total[24h]))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Обращений в секунду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sum(rate(bot_messages_total[5m]))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Ошибок за сутки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sum(increase(bot_errors_total[24h])) or vector(0)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Пользователей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bot_unique_users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Datasource note"/>
          <p:cNvSpPr txBox="1"/>
          <p:nvPr/>
        </p:nvSpPr>
        <p:spPr>
          <a:xfrm>
            <a:off x="640080" y="50292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Источник данных: </a:t>
            </a:r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http://prometheus:9090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. Запрос вводим в режиме </a:t>
            </a:r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Code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, а не Builder.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4472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3"/>
                </a:solidFill>
              </a:rPr>
              <a:t>PROMQL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8686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Четыре приёма, которых хватило</a:t>
            </a:r>
            <a:endParaRPr lang="en-US" sz="3600" dirty="0"/>
          </a:p>
        </p:txBody>
      </p:sp>
      <p:sp>
        <p:nvSpPr>
          <p:cNvPr id="4" name="PromQL card 1"/>
          <p:cNvSpPr/>
          <p:nvPr/>
        </p:nvSpPr>
        <p:spPr>
          <a:xfrm>
            <a:off x="640080" y="2011680"/>
            <a:ext cx="5330952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PromQL expr 1"/>
          <p:cNvSpPr txBox="1"/>
          <p:nvPr/>
        </p:nvSpPr>
        <p:spPr>
          <a:xfrm>
            <a:off x="960120" y="22402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rate(bot_messages_total[5m])</a:t>
            </a:r>
            <a:endParaRPr lang="en-US" sz="1600" dirty="0"/>
          </a:p>
        </p:txBody>
      </p:sp>
      <p:sp>
        <p:nvSpPr>
          <p:cNvPr id="6" name="PromQL text 1"/>
          <p:cNvSpPr txBox="1"/>
          <p:nvPr/>
        </p:nvSpPr>
        <p:spPr>
          <a:xfrm>
            <a:off x="960120" y="283464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Скорость роста в секунду за последние 5 минут. Для графика нагрузки.</a:t>
            </a:r>
            <a:endParaRPr lang="en-US" sz="1800" dirty="0"/>
          </a:p>
        </p:txBody>
      </p:sp>
      <p:sp>
        <p:nvSpPr>
          <p:cNvPr id="7" name="PromQL card 2"/>
          <p:cNvSpPr/>
          <p:nvPr/>
        </p:nvSpPr>
        <p:spPr>
          <a:xfrm>
            <a:off x="6217920" y="2011680"/>
            <a:ext cx="5330952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PromQL expr 2"/>
          <p:cNvSpPr txBox="1"/>
          <p:nvPr/>
        </p:nvSpPr>
        <p:spPr>
          <a:xfrm>
            <a:off x="6537960" y="22402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increase(bot_messages_total[24h])</a:t>
            </a:r>
            <a:endParaRPr lang="en-US" sz="1600" dirty="0"/>
          </a:p>
        </p:txBody>
      </p:sp>
      <p:sp>
        <p:nvSpPr>
          <p:cNvPr id="9" name="PromQL text 2"/>
          <p:cNvSpPr txBox="1"/>
          <p:nvPr/>
        </p:nvSpPr>
        <p:spPr>
          <a:xfrm>
            <a:off x="6537960" y="283464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На сколько счётчик вырос за период. Для числа «за сутки».</a:t>
            </a:r>
            <a:endParaRPr lang="en-US" sz="1800" dirty="0"/>
          </a:p>
        </p:txBody>
      </p:sp>
      <p:sp>
        <p:nvSpPr>
          <p:cNvPr id="10" name="PromQL card 3"/>
          <p:cNvSpPr/>
          <p:nvPr/>
        </p:nvSpPr>
        <p:spPr>
          <a:xfrm>
            <a:off x="640080" y="4023360"/>
            <a:ext cx="5330952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PromQL expr 3"/>
          <p:cNvSpPr txBox="1"/>
          <p:nvPr/>
        </p:nvSpPr>
        <p:spPr>
          <a:xfrm>
            <a:off x="960120" y="42519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sum(...)</a:t>
            </a:r>
            <a:endParaRPr lang="en-US" sz="1600" dirty="0"/>
          </a:p>
        </p:txBody>
      </p:sp>
      <p:sp>
        <p:nvSpPr>
          <p:cNvPr id="12" name="PromQL text 3"/>
          <p:cNvSpPr txBox="1"/>
          <p:nvPr/>
        </p:nvSpPr>
        <p:spPr>
          <a:xfrm>
            <a:off x="960120" y="484632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Складывает ряды с разными метками в одно число.</a:t>
            </a:r>
            <a:endParaRPr lang="en-US" sz="1800" dirty="0"/>
          </a:p>
        </p:txBody>
      </p:sp>
      <p:sp>
        <p:nvSpPr>
          <p:cNvPr id="13" name="PromQL card 4"/>
          <p:cNvSpPr/>
          <p:nvPr/>
        </p:nvSpPr>
        <p:spPr>
          <a:xfrm>
            <a:off x="6217920" y="4023360"/>
            <a:ext cx="5330952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PromQL expr 4"/>
          <p:cNvSpPr txBox="1"/>
          <p:nvPr/>
        </p:nvSpPr>
        <p:spPr>
          <a:xfrm>
            <a:off x="6537960" y="42519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 or vector(0)</a:t>
            </a:r>
            <a:endParaRPr lang="en-US" sz="1600" dirty="0"/>
          </a:p>
        </p:txBody>
      </p:sp>
      <p:sp>
        <p:nvSpPr>
          <p:cNvPr id="15" name="PromQL text 4"/>
          <p:cNvSpPr txBox="1"/>
          <p:nvPr/>
        </p:nvSpPr>
        <p:spPr>
          <a:xfrm>
            <a:off x="6537960" y="484632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Показывает 0 вместо «No data», пока события не было.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4472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3"/>
                </a:solidFill>
              </a:rPr>
              <a:t>РЕДАКТОР ПАНЕЛИ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8686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Как выглядит настройка панели</a:t>
            </a:r>
            <a:endParaRPr lang="en-US" sz="3600" dirty="0"/>
          </a:p>
        </p:txBody>
      </p:sp>
      <p:pic>
        <p:nvPicPr>
          <p:cNvPr id="4" name="Редактор панели в Grafana с запросом PromQL" descr="Редактор панели в Grafana с запросом PromQ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011680"/>
            <a:ext cx="6949440" cy="3957105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20000"/>
              </a:srgbClr>
            </a:outerShdw>
          </a:effectLst>
        </p:spPr>
      </p:pic>
      <p:sp>
        <p:nvSpPr>
          <p:cNvPr id="5" name="Note card 1"/>
          <p:cNvSpPr/>
          <p:nvPr/>
        </p:nvSpPr>
        <p:spPr>
          <a:xfrm>
            <a:off x="7863840" y="2011680"/>
            <a:ext cx="3685032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6" name="Note number 1"/>
          <p:cNvSpPr txBox="1"/>
          <p:nvPr/>
        </p:nvSpPr>
        <p:spPr>
          <a:xfrm>
            <a:off x="8092440" y="214884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</a:rPr>
              <a:t>1</a:t>
            </a:r>
            <a:endParaRPr lang="en-US" sz="2800" dirty="0"/>
          </a:p>
        </p:txBody>
      </p:sp>
      <p:sp>
        <p:nvSpPr>
          <p:cNvPr id="7" name="Note text 1"/>
          <p:cNvSpPr txBox="1"/>
          <p:nvPr/>
        </p:nvSpPr>
        <p:spPr>
          <a:xfrm>
            <a:off x="8686800" y="21488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Источник данных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выбран prometheus</a:t>
            </a:r>
            <a:endParaRPr lang="en-US" sz="1800" dirty="0"/>
          </a:p>
        </p:txBody>
      </p:sp>
      <p:sp>
        <p:nvSpPr>
          <p:cNvPr id="8" name="Note card 2"/>
          <p:cNvSpPr/>
          <p:nvPr/>
        </p:nvSpPr>
        <p:spPr>
          <a:xfrm>
            <a:off x="7863840" y="3383280"/>
            <a:ext cx="3685032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Note number 2"/>
          <p:cNvSpPr txBox="1"/>
          <p:nvPr/>
        </p:nvSpPr>
        <p:spPr>
          <a:xfrm>
            <a:off x="8092440" y="352044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</a:rPr>
              <a:t>2</a:t>
            </a:r>
            <a:endParaRPr lang="en-US" sz="2800" dirty="0"/>
          </a:p>
        </p:txBody>
      </p:sp>
      <p:sp>
        <p:nvSpPr>
          <p:cNvPr id="10" name="Note text 2"/>
          <p:cNvSpPr txBox="1"/>
          <p:nvPr/>
        </p:nvSpPr>
        <p:spPr>
          <a:xfrm>
            <a:off x="8686800" y="35204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Режим Code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PromQL вводим руками</a:t>
            </a:r>
            <a:endParaRPr lang="en-US" sz="1800" dirty="0"/>
          </a:p>
        </p:txBody>
      </p:sp>
      <p:sp>
        <p:nvSpPr>
          <p:cNvPr id="11" name="Note card 3"/>
          <p:cNvSpPr/>
          <p:nvPr/>
        </p:nvSpPr>
        <p:spPr>
          <a:xfrm>
            <a:off x="7863840" y="4754880"/>
            <a:ext cx="3685032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2" name="Note number 3"/>
          <p:cNvSpPr txBox="1"/>
          <p:nvPr/>
        </p:nvSpPr>
        <p:spPr>
          <a:xfrm>
            <a:off x="8092440" y="489204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</a:rPr>
              <a:t>3</a:t>
            </a:r>
            <a:endParaRPr lang="en-US" sz="2800" dirty="0"/>
          </a:p>
        </p:txBody>
      </p:sp>
      <p:sp>
        <p:nvSpPr>
          <p:cNvPr id="13" name="Note text 3"/>
          <p:cNvSpPr txBox="1"/>
          <p:nvPr/>
        </p:nvSpPr>
        <p:spPr>
          <a:xfrm>
            <a:off x="8686800" y="48920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Тип панели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Time series, период Last 5 minutes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4472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3"/>
                </a:solidFill>
              </a:rPr>
              <a:t>РЕЗУЛЬТАТ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8686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Мой дашборд</a:t>
            </a:r>
            <a:endParaRPr lang="en-US" sz="3600" dirty="0"/>
          </a:p>
        </p:txBody>
      </p:sp>
      <p:pic>
        <p:nvPicPr>
          <p:cNvPr id="4" name="Дашборд бота: сообщения, ошибки, пользователи" descr="Дашборд бота: сообщения, ошибки, пользователи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011680"/>
            <a:ext cx="7680960" cy="3682815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20000"/>
              </a:srgbClr>
            </a:outerShdw>
          </a:effectLst>
        </p:spPr>
      </p:pic>
      <p:sp>
        <p:nvSpPr>
          <p:cNvPr id="5" name="Fact card 1"/>
          <p:cNvSpPr/>
          <p:nvPr/>
        </p:nvSpPr>
        <p:spPr>
          <a:xfrm>
            <a:off x="8595360" y="2011680"/>
            <a:ext cx="2953512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6" name="Fact text 1"/>
          <p:cNvSpPr txBox="1"/>
          <p:nvPr/>
        </p:nvSpPr>
        <p:spPr>
          <a:xfrm>
            <a:off x="8823960" y="214884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Сообщения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график: сколько пришло за 2 минуты</a:t>
            </a:r>
            <a:endParaRPr lang="en-US" sz="1800" dirty="0"/>
          </a:p>
        </p:txBody>
      </p:sp>
      <p:sp>
        <p:nvSpPr>
          <p:cNvPr id="7" name="Fact card 2"/>
          <p:cNvSpPr/>
          <p:nvPr/>
        </p:nvSpPr>
        <p:spPr>
          <a:xfrm>
            <a:off x="8595360" y="3337560"/>
            <a:ext cx="2953512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Fact text 2"/>
          <p:cNvSpPr txBox="1"/>
          <p:nvPr/>
        </p:nvSpPr>
        <p:spPr>
          <a:xfrm>
            <a:off x="8823960" y="347472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Ошибки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0: ошибок не было</a:t>
            </a:r>
            <a:endParaRPr lang="en-US" sz="1800" dirty="0"/>
          </a:p>
        </p:txBody>
      </p:sp>
      <p:sp>
        <p:nvSpPr>
          <p:cNvPr id="9" name="Fact card 3"/>
          <p:cNvSpPr/>
          <p:nvPr/>
        </p:nvSpPr>
        <p:spPr>
          <a:xfrm>
            <a:off x="8595360" y="4663440"/>
            <a:ext cx="2953512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Fact text 3"/>
          <p:cNvSpPr txBox="1"/>
          <p:nvPr/>
        </p:nvSpPr>
        <p:spPr>
          <a:xfrm>
            <a:off x="8823960" y="480060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Пользователи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1: пока только я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4472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3"/>
                </a:solidFill>
              </a:rPr>
              <a:t>ГРАБЛИ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8686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Три ошибки, на которые я потратил время</a:t>
            </a:r>
            <a:endParaRPr lang="en-US" sz="3600" dirty="0"/>
          </a:p>
        </p:txBody>
      </p:sp>
      <p:sp>
        <p:nvSpPr>
          <p:cNvPr id="4" name="Card 1"/>
          <p:cNvSpPr/>
          <p:nvPr/>
        </p:nvSpPr>
        <p:spPr>
          <a:xfrm>
            <a:off x="640080" y="2011680"/>
            <a:ext cx="3520440" cy="384048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Error title 1"/>
          <p:cNvSpPr txBox="1"/>
          <p:nvPr/>
        </p:nvSpPr>
        <p:spPr>
          <a:xfrm>
            <a:off x="960120" y="22402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«No data» в Grafana</a:t>
            </a:r>
            <a:endParaRPr lang="en-US" sz="2000" dirty="0"/>
          </a:p>
        </p:txBody>
      </p:sp>
      <p:sp>
        <p:nvSpPr>
          <p:cNvPr id="6" name="Error cause 1"/>
          <p:cNvSpPr txBox="1"/>
          <p:nvPr/>
        </p:nvSpPr>
        <p:spPr>
          <a:xfrm>
            <a:off x="960120" y="315468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Запрос был вставлен в режим Builder, и Grafana приняла его за имя метрики.</a:t>
            </a:r>
            <a:endParaRPr lang="en-US" sz="1600" dirty="0"/>
          </a:p>
        </p:txBody>
      </p:sp>
      <p:sp>
        <p:nvSpPr>
          <p:cNvPr id="7" name="Error fix 1"/>
          <p:cNvSpPr txBox="1"/>
          <p:nvPr/>
        </p:nvSpPr>
        <p:spPr>
          <a:xfrm>
            <a:off x="960120" y="484632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Решение: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переключить на Code.</a:t>
            </a:r>
            <a:endParaRPr lang="en-US" sz="1600" dirty="0"/>
          </a:p>
        </p:txBody>
      </p:sp>
      <p:sp>
        <p:nvSpPr>
          <p:cNvPr id="8" name="Card 2"/>
          <p:cNvSpPr/>
          <p:nvPr/>
        </p:nvSpPr>
        <p:spPr>
          <a:xfrm>
            <a:off x="4434840" y="2011680"/>
            <a:ext cx="3520440" cy="384048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Error title 2"/>
          <p:cNvSpPr txBox="1"/>
          <p:nvPr/>
        </p:nvSpPr>
        <p:spPr>
          <a:xfrm>
            <a:off x="4754880" y="22402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Нет метрик, а цель UP</a:t>
            </a:r>
            <a:endParaRPr lang="en-US" sz="2000" dirty="0"/>
          </a:p>
        </p:txBody>
      </p:sp>
      <p:sp>
        <p:nvSpPr>
          <p:cNvPr id="10" name="Error cause 2"/>
          <p:cNvSpPr txBox="1"/>
          <p:nvPr/>
        </p:nvSpPr>
        <p:spPr>
          <a:xfrm>
            <a:off x="4754880" y="315468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В логах Conflict: второй бот с тем же токеном забирал все сообщения.</a:t>
            </a:r>
            <a:endParaRPr lang="en-US" sz="1600" dirty="0"/>
          </a:p>
        </p:txBody>
      </p:sp>
      <p:sp>
        <p:nvSpPr>
          <p:cNvPr id="11" name="Error fix 2"/>
          <p:cNvSpPr txBox="1"/>
          <p:nvPr/>
        </p:nvSpPr>
        <p:spPr>
          <a:xfrm>
            <a:off x="4754880" y="484632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Решение: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остановить локальный бот.</a:t>
            </a:r>
            <a:endParaRPr lang="en-US" sz="1600" dirty="0"/>
          </a:p>
        </p:txBody>
      </p:sp>
      <p:sp>
        <p:nvSpPr>
          <p:cNvPr id="12" name="Card 3"/>
          <p:cNvSpPr/>
          <p:nvPr/>
        </p:nvSpPr>
        <p:spPr>
          <a:xfrm>
            <a:off x="8229600" y="2011680"/>
            <a:ext cx="3520440" cy="384048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Error title 3"/>
          <p:cNvSpPr txBox="1"/>
          <p:nvPr/>
        </p:nvSpPr>
        <p:spPr>
          <a:xfrm>
            <a:off x="8549640" y="22402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Нет bot_errors_total</a:t>
            </a:r>
            <a:endParaRPr lang="en-US" sz="2000" dirty="0"/>
          </a:p>
        </p:txBody>
      </p:sp>
      <p:sp>
        <p:nvSpPr>
          <p:cNvPr id="14" name="Error cause 3"/>
          <p:cNvSpPr txBox="1"/>
          <p:nvPr/>
        </p:nvSpPr>
        <p:spPr>
          <a:xfrm>
            <a:off x="8549640" y="315468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Метрика с метками появляется только после первого .inc().</a:t>
            </a:r>
            <a:endParaRPr lang="en-US" sz="1600" dirty="0"/>
          </a:p>
        </p:txBody>
      </p:sp>
      <p:sp>
        <p:nvSpPr>
          <p:cNvPr id="15" name="Error fix 3"/>
          <p:cNvSpPr txBox="1"/>
          <p:nvPr/>
        </p:nvSpPr>
        <p:spPr>
          <a:xfrm>
            <a:off x="8549640" y="484632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Решение: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отправить боту /fail.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4472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3"/>
                </a:solidFill>
              </a:rPr>
              <a:t>АЛЕРТЫ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8686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Алерт в Telegram: как это устроено</a:t>
            </a:r>
            <a:endParaRPr lang="en-US" sz="3600" dirty="0"/>
          </a:p>
        </p:txBody>
      </p:sp>
      <p:sp>
        <p:nvSpPr>
          <p:cNvPr id="4" name="Flow card 1"/>
          <p:cNvSpPr/>
          <p:nvPr/>
        </p:nvSpPr>
        <p:spPr>
          <a:xfrm>
            <a:off x="640080" y="2011680"/>
            <a:ext cx="2103120" cy="219456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Flow heading 1"/>
          <p:cNvSpPr txBox="1"/>
          <p:nvPr/>
        </p:nvSpPr>
        <p:spPr>
          <a:xfrm>
            <a:off x="868680" y="21945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Правило</a:t>
            </a:r>
            <a:endParaRPr lang="en-US" sz="1800" dirty="0"/>
          </a:p>
        </p:txBody>
      </p:sp>
      <p:sp>
        <p:nvSpPr>
          <p:cNvPr id="6" name="Flow text 1"/>
          <p:cNvSpPr txBox="1"/>
          <p:nvPr/>
        </p:nvSpPr>
        <p:spPr>
          <a:xfrm>
            <a:off x="868680" y="274320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Grafana регулярно проверяет запрос к Prometheus</a:t>
            </a:r>
            <a:endParaRPr lang="en-US" sz="1500" dirty="0"/>
          </a:p>
        </p:txBody>
      </p:sp>
      <p:sp>
        <p:nvSpPr>
          <p:cNvPr id="7" name="Flow arrow 1"/>
          <p:cNvSpPr/>
          <p:nvPr/>
        </p:nvSpPr>
        <p:spPr>
          <a:xfrm>
            <a:off x="2834640" y="2926080"/>
            <a:ext cx="365760" cy="32004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8" name="Flow card 2"/>
          <p:cNvSpPr/>
          <p:nvPr/>
        </p:nvSpPr>
        <p:spPr>
          <a:xfrm>
            <a:off x="3264408" y="2011680"/>
            <a:ext cx="2103120" cy="219456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Flow heading 2"/>
          <p:cNvSpPr txBox="1"/>
          <p:nvPr/>
        </p:nvSpPr>
        <p:spPr>
          <a:xfrm>
            <a:off x="3493008" y="21945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Условие</a:t>
            </a:r>
            <a:endParaRPr lang="en-US" sz="1800" dirty="0"/>
          </a:p>
        </p:txBody>
      </p:sp>
      <p:sp>
        <p:nvSpPr>
          <p:cNvPr id="10" name="Flow text 2"/>
          <p:cNvSpPr txBox="1"/>
          <p:nvPr/>
        </p:nvSpPr>
        <p:spPr>
          <a:xfrm>
            <a:off x="3493008" y="274320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Порог и время, как долго он должен держаться</a:t>
            </a:r>
            <a:endParaRPr lang="en-US" sz="1500" dirty="0"/>
          </a:p>
        </p:txBody>
      </p:sp>
      <p:sp>
        <p:nvSpPr>
          <p:cNvPr id="11" name="Flow arrow 2"/>
          <p:cNvSpPr/>
          <p:nvPr/>
        </p:nvSpPr>
        <p:spPr>
          <a:xfrm>
            <a:off x="5458968" y="2926080"/>
            <a:ext cx="365760" cy="32004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2" name="Flow card 3"/>
          <p:cNvSpPr/>
          <p:nvPr/>
        </p:nvSpPr>
        <p:spPr>
          <a:xfrm>
            <a:off x="5888736" y="2011680"/>
            <a:ext cx="2103120" cy="219456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Flow heading 3"/>
          <p:cNvSpPr txBox="1"/>
          <p:nvPr/>
        </p:nvSpPr>
        <p:spPr>
          <a:xfrm>
            <a:off x="6117336" y="21945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Contact point</a:t>
            </a:r>
            <a:endParaRPr lang="en-US" sz="1800" dirty="0"/>
          </a:p>
        </p:txBody>
      </p:sp>
      <p:sp>
        <p:nvSpPr>
          <p:cNvPr id="14" name="Flow text 3"/>
          <p:cNvSpPr txBox="1"/>
          <p:nvPr/>
        </p:nvSpPr>
        <p:spPr>
          <a:xfrm>
            <a:off x="6117336" y="274320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Куда слать: здесь это Telegram</a:t>
            </a:r>
            <a:endParaRPr lang="en-US" sz="1500" dirty="0"/>
          </a:p>
        </p:txBody>
      </p:sp>
      <p:sp>
        <p:nvSpPr>
          <p:cNvPr id="15" name="Flow arrow 3"/>
          <p:cNvSpPr/>
          <p:nvPr/>
        </p:nvSpPr>
        <p:spPr>
          <a:xfrm>
            <a:off x="8083296" y="2926080"/>
            <a:ext cx="365760" cy="32004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6" name="Flow card 4"/>
          <p:cNvSpPr/>
          <p:nvPr/>
        </p:nvSpPr>
        <p:spPr>
          <a:xfrm>
            <a:off x="8513064" y="2011680"/>
            <a:ext cx="2103120" cy="219456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7" name="Flow heading 4"/>
          <p:cNvSpPr txBox="1"/>
          <p:nvPr/>
        </p:nvSpPr>
        <p:spPr>
          <a:xfrm>
            <a:off x="8741664" y="21945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Сообщение</a:t>
            </a:r>
            <a:endParaRPr lang="en-US" sz="1800" dirty="0"/>
          </a:p>
        </p:txBody>
      </p:sp>
      <p:sp>
        <p:nvSpPr>
          <p:cNvPr id="18" name="Flow text 4"/>
          <p:cNvSpPr txBox="1"/>
          <p:nvPr/>
        </p:nvSpPr>
        <p:spPr>
          <a:xfrm>
            <a:off x="8741664" y="274320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Приходит в чат, когда условие выполнено</a:t>
            </a:r>
            <a:endParaRPr lang="en-US" sz="1500" dirty="0"/>
          </a:p>
        </p:txBody>
      </p:sp>
      <p:sp>
        <p:nvSpPr>
          <p:cNvPr id="19" name="My rule card"/>
          <p:cNvSpPr/>
          <p:nvPr/>
        </p:nvSpPr>
        <p:spPr>
          <a:xfrm>
            <a:off x="640080" y="4526280"/>
            <a:ext cx="10908792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My rule"/>
          <p:cNvSpPr txBox="1"/>
          <p:nvPr/>
        </p:nvSpPr>
        <p:spPr>
          <a:xfrm>
            <a:off x="960120" y="4663440"/>
            <a:ext cx="10241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Моё правило tgbot: </a:t>
            </a:r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скорость ошибок за 5 минут выше 0, то есть алерт приходит при любой ошибке бота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4472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3"/>
                </a:solidFill>
              </a:rPr>
              <a:t>НАСТРОЙКА TELEGRAM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8686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Как подключить Telegram в Grafana</a:t>
            </a:r>
            <a:endParaRPr lang="en-US" sz="3600" dirty="0"/>
          </a:p>
        </p:txBody>
      </p:sp>
      <p:sp>
        <p:nvSpPr>
          <p:cNvPr id="4" name="Telegram step card 1"/>
          <p:cNvSpPr/>
          <p:nvPr/>
        </p:nvSpPr>
        <p:spPr>
          <a:xfrm>
            <a:off x="640080" y="2011680"/>
            <a:ext cx="676656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Telegram step number 1"/>
          <p:cNvSpPr txBox="1"/>
          <p:nvPr/>
        </p:nvSpPr>
        <p:spPr>
          <a:xfrm>
            <a:off x="868680" y="21031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</a:rPr>
              <a:t>1</a:t>
            </a:r>
            <a:endParaRPr lang="en-US" sz="2800" dirty="0"/>
          </a:p>
        </p:txBody>
      </p:sp>
      <p:sp>
        <p:nvSpPr>
          <p:cNvPr id="6" name="Telegram step text 1"/>
          <p:cNvSpPr txBox="1"/>
          <p:nvPr/>
        </p:nvSpPr>
        <p:spPr>
          <a:xfrm>
            <a:off x="1463040" y="210312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Создать бота у @BotFather и получить токен</a:t>
            </a:r>
            <a:endParaRPr lang="en-US" sz="1600" dirty="0"/>
          </a:p>
        </p:txBody>
      </p:sp>
      <p:sp>
        <p:nvSpPr>
          <p:cNvPr id="7" name="Telegram step card 2"/>
          <p:cNvSpPr/>
          <p:nvPr/>
        </p:nvSpPr>
        <p:spPr>
          <a:xfrm>
            <a:off x="640080" y="2971800"/>
            <a:ext cx="676656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Telegram step number 2"/>
          <p:cNvSpPr txBox="1"/>
          <p:nvPr/>
        </p:nvSpPr>
        <p:spPr>
          <a:xfrm>
            <a:off x="868680" y="306324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</a:rPr>
              <a:t>2</a:t>
            </a:r>
            <a:endParaRPr lang="en-US" sz="2800" dirty="0"/>
          </a:p>
        </p:txBody>
      </p:sp>
      <p:sp>
        <p:nvSpPr>
          <p:cNvPr id="9" name="Telegram step text 2"/>
          <p:cNvSpPr txBox="1"/>
          <p:nvPr/>
        </p:nvSpPr>
        <p:spPr>
          <a:xfrm>
            <a:off x="1463040" y="306324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Узнать chat ID: свой или группы, куда слать</a:t>
            </a:r>
            <a:endParaRPr lang="en-US" sz="1600" dirty="0"/>
          </a:p>
        </p:txBody>
      </p:sp>
      <p:sp>
        <p:nvSpPr>
          <p:cNvPr id="10" name="Telegram step card 3"/>
          <p:cNvSpPr/>
          <p:nvPr/>
        </p:nvSpPr>
        <p:spPr>
          <a:xfrm>
            <a:off x="640080" y="3931920"/>
            <a:ext cx="676656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Telegram step number 3"/>
          <p:cNvSpPr txBox="1"/>
          <p:nvPr/>
        </p:nvSpPr>
        <p:spPr>
          <a:xfrm>
            <a:off x="868680" y="402336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</a:rPr>
              <a:t>3</a:t>
            </a:r>
            <a:endParaRPr lang="en-US" sz="2800" dirty="0"/>
          </a:p>
        </p:txBody>
      </p:sp>
      <p:sp>
        <p:nvSpPr>
          <p:cNvPr id="12" name="Telegram step text 3"/>
          <p:cNvSpPr txBox="1"/>
          <p:nvPr/>
        </p:nvSpPr>
        <p:spPr>
          <a:xfrm>
            <a:off x="1463040" y="402336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Alerting → Contact points → Telegram: токен и chat ID, кнопка Test</a:t>
            </a:r>
            <a:endParaRPr lang="en-US" sz="1600" dirty="0"/>
          </a:p>
        </p:txBody>
      </p:sp>
      <p:sp>
        <p:nvSpPr>
          <p:cNvPr id="13" name="Telegram step card 4"/>
          <p:cNvSpPr/>
          <p:nvPr/>
        </p:nvSpPr>
        <p:spPr>
          <a:xfrm>
            <a:off x="640080" y="4892040"/>
            <a:ext cx="676656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Telegram step number 4"/>
          <p:cNvSpPr txBox="1"/>
          <p:nvPr/>
        </p:nvSpPr>
        <p:spPr>
          <a:xfrm>
            <a:off x="868680" y="498348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</a:rPr>
              <a:t>4</a:t>
            </a:r>
            <a:endParaRPr lang="en-US" sz="2800" dirty="0"/>
          </a:p>
        </p:txBody>
      </p:sp>
      <p:sp>
        <p:nvSpPr>
          <p:cNvPr id="15" name="Telegram step text 4"/>
          <p:cNvSpPr txBox="1"/>
          <p:nvPr/>
        </p:nvSpPr>
        <p:spPr>
          <a:xfrm>
            <a:off x="1463040" y="498348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Notification policies: направить алерты на этот contact point</a:t>
            </a:r>
            <a:endParaRPr lang="en-US" sz="1600" dirty="0"/>
          </a:p>
        </p:txBody>
      </p:sp>
      <p:sp>
        <p:nvSpPr>
          <p:cNvPr id="16" name="Screenshot placeholder"/>
          <p:cNvSpPr/>
          <p:nvPr/>
        </p:nvSpPr>
        <p:spPr>
          <a:xfrm>
            <a:off x="7680960" y="2011680"/>
            <a:ext cx="3867912" cy="3749040"/>
          </a:xfrm>
          <a:prstGeom prst="roundRect">
            <a:avLst>
              <a:gd name="adj" fmla="val 2927"/>
            </a:avLst>
          </a:prstGeom>
          <a:solidFill>
            <a:schemeClr val="bg2"/>
          </a:solidFill>
          <a:ln w="19050">
            <a:solidFill>
              <a:schemeClr val="accent5"/>
            </a:solidFill>
            <a:prstDash val="dash"/>
          </a:ln>
        </p:spPr>
      </p:sp>
      <p:sp>
        <p:nvSpPr>
          <p:cNvPr id="17" name="Screenshot placeholder text"/>
          <p:cNvSpPr txBox="1"/>
          <p:nvPr/>
        </p:nvSpPr>
        <p:spPr>
          <a:xfrm>
            <a:off x="7955280" y="3291840"/>
            <a:ext cx="33192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Сюда скриншот уведомления из Telegram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4472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3"/>
                </a:solidFill>
              </a:rPr>
              <a:t>МОЙ АЛЕРТ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8686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Правило tgbot в Grafana</a:t>
            </a:r>
            <a:endParaRPr lang="en-US" sz="3600" dirty="0"/>
          </a:p>
        </p:txBody>
      </p:sp>
      <p:pic>
        <p:nvPicPr>
          <p:cNvPr id="4" name="Правило tgbot в Grafana: запрос, график и порог" descr="Правило tgbot в Grafana: запрос, график и порог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011680"/>
            <a:ext cx="5120640" cy="3836581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20000"/>
              </a:srgbClr>
            </a:outerShdw>
          </a:effectLst>
        </p:spPr>
      </p:pic>
      <p:sp>
        <p:nvSpPr>
          <p:cNvPr id="5" name="Alert fact card 1"/>
          <p:cNvSpPr/>
          <p:nvPr/>
        </p:nvSpPr>
        <p:spPr>
          <a:xfrm>
            <a:off x="6126480" y="2011680"/>
            <a:ext cx="5422392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6" name="Alert fact label 1"/>
          <p:cNvSpPr txBox="1"/>
          <p:nvPr/>
        </p:nvSpPr>
        <p:spPr>
          <a:xfrm>
            <a:off x="6355080" y="2084832"/>
            <a:ext cx="1645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Запрос</a:t>
            </a:r>
            <a:endParaRPr lang="en-US" sz="1600" dirty="0"/>
          </a:p>
        </p:txBody>
      </p:sp>
      <p:sp>
        <p:nvSpPr>
          <p:cNvPr id="7" name="Alert fact text 1"/>
          <p:cNvSpPr txBox="1"/>
          <p:nvPr/>
        </p:nvSpPr>
        <p:spPr>
          <a:xfrm>
            <a:off x="8046720" y="2084832"/>
            <a:ext cx="3337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sum(rate(bot_errors_total[5m]))</a:t>
            </a:r>
            <a:endParaRPr lang="en-US" sz="1400" dirty="0"/>
          </a:p>
        </p:txBody>
      </p:sp>
      <p:sp>
        <p:nvSpPr>
          <p:cNvPr id="8" name="Alert fact card 2"/>
          <p:cNvSpPr/>
          <p:nvPr/>
        </p:nvSpPr>
        <p:spPr>
          <a:xfrm>
            <a:off x="6126480" y="2971800"/>
            <a:ext cx="5422392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Alert fact label 2"/>
          <p:cNvSpPr txBox="1"/>
          <p:nvPr/>
        </p:nvSpPr>
        <p:spPr>
          <a:xfrm>
            <a:off x="6355080" y="3044952"/>
            <a:ext cx="1645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Условие</a:t>
            </a:r>
            <a:endParaRPr lang="en-US" sz="1600" dirty="0"/>
          </a:p>
        </p:txBody>
      </p:sp>
      <p:sp>
        <p:nvSpPr>
          <p:cNvPr id="10" name="Alert fact text 2"/>
          <p:cNvSpPr txBox="1"/>
          <p:nvPr/>
        </p:nvSpPr>
        <p:spPr>
          <a:xfrm>
            <a:off x="8046720" y="3044952"/>
            <a:ext cx="3337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Is above 0: любая ошибка бота</a:t>
            </a:r>
            <a:endParaRPr lang="en-US" sz="1600" dirty="0"/>
          </a:p>
        </p:txBody>
      </p:sp>
      <p:sp>
        <p:nvSpPr>
          <p:cNvPr id="11" name="Alert fact card 3"/>
          <p:cNvSpPr/>
          <p:nvPr/>
        </p:nvSpPr>
        <p:spPr>
          <a:xfrm>
            <a:off x="6126480" y="3931920"/>
            <a:ext cx="5422392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2" name="Alert fact label 3"/>
          <p:cNvSpPr txBox="1"/>
          <p:nvPr/>
        </p:nvSpPr>
        <p:spPr>
          <a:xfrm>
            <a:off x="6355080" y="4005072"/>
            <a:ext cx="1645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Куда слать</a:t>
            </a:r>
            <a:endParaRPr lang="en-US" sz="1600" dirty="0"/>
          </a:p>
        </p:txBody>
      </p:sp>
      <p:sp>
        <p:nvSpPr>
          <p:cNvPr id="13" name="Alert fact text 3"/>
          <p:cNvSpPr txBox="1"/>
          <p:nvPr/>
        </p:nvSpPr>
        <p:spPr>
          <a:xfrm>
            <a:off x="8046720" y="4005072"/>
            <a:ext cx="3337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contact point alerting tg, то есть Telegram</a:t>
            </a:r>
            <a:endParaRPr lang="en-US" sz="1600" dirty="0"/>
          </a:p>
        </p:txBody>
      </p:sp>
      <p:sp>
        <p:nvSpPr>
          <p:cNvPr id="14" name="Alert fact card 4"/>
          <p:cNvSpPr/>
          <p:nvPr/>
        </p:nvSpPr>
        <p:spPr>
          <a:xfrm>
            <a:off x="6126480" y="4892040"/>
            <a:ext cx="5422392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5" name="Alert fact label 4"/>
          <p:cNvSpPr txBox="1"/>
          <p:nvPr/>
        </p:nvSpPr>
        <p:spPr>
          <a:xfrm>
            <a:off x="6355080" y="4965192"/>
            <a:ext cx="1645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Статус</a:t>
            </a:r>
            <a:endParaRPr lang="en-US" sz="1600" dirty="0"/>
          </a:p>
        </p:txBody>
      </p:sp>
      <p:sp>
        <p:nvSpPr>
          <p:cNvPr id="16" name="Alert fact text 4"/>
          <p:cNvSpPr txBox="1"/>
          <p:nvPr/>
        </p:nvSpPr>
        <p:spPr>
          <a:xfrm>
            <a:off x="8046720" y="4965192"/>
            <a:ext cx="3337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Firing: алерт сработал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4472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3"/>
                </a:solidFill>
              </a:rPr>
              <a:t>ИТОГИ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8686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Что получилось</a:t>
            </a:r>
            <a:endParaRPr lang="en-US" sz="3600" dirty="0"/>
          </a:p>
        </p:txBody>
      </p:sp>
      <p:sp>
        <p:nvSpPr>
          <p:cNvPr id="4" name="Summary card 1"/>
          <p:cNvSpPr/>
          <p:nvPr/>
        </p:nvSpPr>
        <p:spPr>
          <a:xfrm>
            <a:off x="640080" y="2011680"/>
            <a:ext cx="10908792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5" name="Summary check 1" descr="Готово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21408"/>
            <a:ext cx="420624" cy="420624"/>
          </a:xfrm>
          <a:prstGeom prst="rect">
            <a:avLst/>
          </a:prstGeom>
        </p:spPr>
      </p:pic>
      <p:sp>
        <p:nvSpPr>
          <p:cNvPr id="6" name="Summary text 1"/>
          <p:cNvSpPr txBox="1"/>
          <p:nvPr/>
        </p:nvSpPr>
        <p:spPr>
          <a:xfrm>
            <a:off x="1645920" y="205740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Бот сам считает обращения, ошибки и пользователей</a:t>
            </a:r>
            <a:endParaRPr lang="en-US" sz="2000" dirty="0"/>
          </a:p>
        </p:txBody>
      </p:sp>
      <p:sp>
        <p:nvSpPr>
          <p:cNvPr id="7" name="Summary card 2"/>
          <p:cNvSpPr/>
          <p:nvPr/>
        </p:nvSpPr>
        <p:spPr>
          <a:xfrm>
            <a:off x="640080" y="2779776"/>
            <a:ext cx="10908792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8" name="Summary check 2" descr="Готово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889504"/>
            <a:ext cx="420624" cy="420624"/>
          </a:xfrm>
          <a:prstGeom prst="rect">
            <a:avLst/>
          </a:prstGeom>
        </p:spPr>
      </p:pic>
      <p:sp>
        <p:nvSpPr>
          <p:cNvPr id="9" name="Summary text 2"/>
          <p:cNvSpPr txBox="1"/>
          <p:nvPr/>
        </p:nvSpPr>
        <p:spPr>
          <a:xfrm>
            <a:off x="1645920" y="2825496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Prometheus каждые 15 секунд забирает метрики</a:t>
            </a:r>
            <a:endParaRPr lang="en-US" sz="2000" dirty="0"/>
          </a:p>
        </p:txBody>
      </p:sp>
      <p:sp>
        <p:nvSpPr>
          <p:cNvPr id="10" name="Summary card 3"/>
          <p:cNvSpPr/>
          <p:nvPr/>
        </p:nvSpPr>
        <p:spPr>
          <a:xfrm>
            <a:off x="640080" y="3547872"/>
            <a:ext cx="10908792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1" name="Summary check 3" descr="Готово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657600"/>
            <a:ext cx="420624" cy="420624"/>
          </a:xfrm>
          <a:prstGeom prst="rect">
            <a:avLst/>
          </a:prstGeom>
        </p:spPr>
      </p:pic>
      <p:sp>
        <p:nvSpPr>
          <p:cNvPr id="12" name="Summary text 3"/>
          <p:cNvSpPr txBox="1"/>
          <p:nvPr/>
        </p:nvSpPr>
        <p:spPr>
          <a:xfrm>
            <a:off x="1645920" y="3593592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Grafana показывает дашборд из трёх панелей</a:t>
            </a:r>
            <a:endParaRPr lang="en-US" sz="2000" dirty="0"/>
          </a:p>
        </p:txBody>
      </p:sp>
      <p:sp>
        <p:nvSpPr>
          <p:cNvPr id="13" name="Summary card 4"/>
          <p:cNvSpPr/>
          <p:nvPr/>
        </p:nvSpPr>
        <p:spPr>
          <a:xfrm>
            <a:off x="640080" y="4315968"/>
            <a:ext cx="10908792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4" name="Summary check 4" descr="Готово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425696"/>
            <a:ext cx="420624" cy="420624"/>
          </a:xfrm>
          <a:prstGeom prst="rect">
            <a:avLst/>
          </a:prstGeom>
        </p:spPr>
      </p:pic>
      <p:sp>
        <p:nvSpPr>
          <p:cNvPr id="15" name="Summary text 4"/>
          <p:cNvSpPr txBox="1"/>
          <p:nvPr/>
        </p:nvSpPr>
        <p:spPr>
          <a:xfrm>
            <a:off x="1645920" y="4361688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При проблеме в Telegram приходит алерт</a:t>
            </a:r>
            <a:endParaRPr lang="en-US" sz="2000" dirty="0"/>
          </a:p>
        </p:txBody>
      </p:sp>
      <p:sp>
        <p:nvSpPr>
          <p:cNvPr id="16" name="Summary card 5"/>
          <p:cNvSpPr/>
          <p:nvPr/>
        </p:nvSpPr>
        <p:spPr>
          <a:xfrm>
            <a:off x="640080" y="5084064"/>
            <a:ext cx="10908792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7" name="Summary check 5" descr="Готово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5193792"/>
            <a:ext cx="420624" cy="420624"/>
          </a:xfrm>
          <a:prstGeom prst="rect">
            <a:avLst/>
          </a:prstGeom>
        </p:spPr>
      </p:pic>
      <p:sp>
        <p:nvSpPr>
          <p:cNvPr id="18" name="Summary text 5"/>
          <p:cNvSpPr txBox="1"/>
          <p:nvPr/>
        </p:nvSpPr>
        <p:spPr>
          <a:xfrm>
            <a:off x="1645920" y="5129784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Всё поднимается одной командой docker compose up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4472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3"/>
                </a:solidFill>
              </a:rPr>
              <a:t>ДАЛЬШЕ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8686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Что ещё хочу сделать</a:t>
            </a:r>
            <a:endParaRPr lang="en-US" sz="3600" dirty="0"/>
          </a:p>
        </p:txBody>
      </p:sp>
      <p:sp>
        <p:nvSpPr>
          <p:cNvPr id="4" name="Next steps"/>
          <p:cNvSpPr txBox="1"/>
          <p:nvPr/>
        </p:nvSpPr>
        <p:spPr>
          <a:xfrm>
            <a:off x="640080" y="1920240"/>
            <a:ext cx="8595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Алерты и по другим метрикам, например по времени ответа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Хранить пользователей в базе, а не в памяти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Подключить Loki, чтобы видеть и сами логи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Дашборд через provisioning, без ручной настройки</a:t>
            </a:r>
            <a:endParaRPr lang="en-US" sz="2200" dirty="0"/>
          </a:p>
        </p:txBody>
      </p:sp>
      <p:sp>
        <p:nvSpPr>
          <p:cNvPr id="5" name="Thanks"/>
          <p:cNvSpPr txBox="1"/>
          <p:nvPr/>
        </p:nvSpPr>
        <p:spPr>
          <a:xfrm>
            <a:off x="640080" y="4572000"/>
            <a:ext cx="8595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3"/>
                </a:solidFill>
              </a:rPr>
              <a:t>Спасибо! Вопросы?</a:t>
            </a:r>
            <a:endParaRPr lang="en-US" sz="5400" dirty="0"/>
          </a:p>
        </p:txBody>
      </p:sp>
      <p:pic>
        <p:nvPicPr>
          <p:cNvPr id="6" name="QR-код" descr="QR-ко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7192" y="3566160"/>
            <a:ext cx="2011680" cy="201168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20000"/>
              </a:srgbClr>
            </a:outerShdw>
          </a:effectLst>
        </p:spPr>
      </p:pic>
      <p:sp>
        <p:nvSpPr>
          <p:cNvPr id="7" name="QR caption"/>
          <p:cNvSpPr txBox="1"/>
          <p:nvPr/>
        </p:nvSpPr>
        <p:spPr>
          <a:xfrm>
            <a:off x="9537192" y="56692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Сканируйте QR-код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4472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afana Bot Light">
  <a:themeElements>
    <a:clrScheme name="Grafana Bot Light">
      <a:dk1>
        <a:srgbClr val="1B1F24"/>
      </a:dk1>
      <a:lt1>
        <a:srgbClr val="F6F7F9"/>
      </a:lt1>
      <a:dk2>
        <a:srgbClr val="4A5058"/>
      </a:dk2>
      <a:lt2>
        <a:srgbClr val="FFFFFF"/>
      </a:lt2>
      <a:accent1>
        <a:srgbClr val="FF7A1A"/>
      </a:accent1>
      <a:accent2>
        <a:srgbClr val="1F5FBF"/>
      </a:accent2>
      <a:accent3>
        <a:srgbClr val="B84700"/>
      </a:accent3>
      <a:accent4>
        <a:srgbClr val="1E8E5A"/>
      </a:accent4>
      <a:accent5>
        <a:srgbClr val="6A7179"/>
      </a:accent5>
      <a:accent6>
        <a:srgbClr val="D9DEE5"/>
      </a:accent6>
      <a:hlink>
        <a:srgbClr val="1F5FBF"/>
      </a:hlink>
      <a:folHlink>
        <a:srgbClr val="6A7179"/>
      </a:folHlink>
    </a:clrScheme>
    <a:fontScheme name="Grafana Bot Ligh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Мониторинг Telegram-бота: Prometheus и Grafana</dc:title>
  <dc:subject>PptxGenJS Presentation</dc:subject>
  <dc:creator>PptxGenJS</dc:creator>
  <cp:lastModifiedBy>PptxGenJS</cp:lastModifiedBy>
  <cp:revision>1</cp:revision>
  <dcterms:created xsi:type="dcterms:W3CDTF">2026-10-24T09:08:14Z</dcterms:created>
  <dcterms:modified xsi:type="dcterms:W3CDTF">2026-10-24T09:08:14Z</dcterms:modified>
</cp:coreProperties>
</file>